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Archivo Black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chivoBlack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g3fa0bd32793_5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" name="Google Shape;10;g3fa0bd32793_5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g3fa0bd32793_5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fa0bd32793_3_2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g3fa0bd32793_3_2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fa0bd32793_3_2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a0bd32793_3_5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fa0bd32793_3_5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fa0bd32793_3_5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a0bd32793_5_7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fa0bd32793_5_7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fa0bd32793_5_7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a0bd32793_5_1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fa0bd32793_5_1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a0bd32793_5_1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a0bd32793_3_9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fa0bd32793_3_9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fa0bd32793_3_9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a0bd32793_5_23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fa0bd32793_5_23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a0bd32793_5_23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a0bd32793_5_47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fa0bd32793_5_47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fa0bd32793_5_47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a0bd3279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a0bd3279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a0bd3279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a0bd3279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a0bd3279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a0bd3279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a0bd32793_5_54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fa0bd32793_5_54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fa0bd32793_5_54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a0bd32793_3_34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fa0bd32793_3_34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a0bd32793_3_34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0bd32793_33_0)">
  <p:cSld name="Generated (g3fa0bd32793_33_0)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207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/>
        </p:nvSpPr>
        <p:spPr>
          <a:xfrm>
            <a:off x="136380" y="154565"/>
            <a:ext cx="617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DBMS PROJECT · REVIEW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4"/>
          <p:cNvSpPr txBox="1"/>
          <p:nvPr/>
        </p:nvSpPr>
        <p:spPr>
          <a:xfrm>
            <a:off x="168375" y="524625"/>
            <a:ext cx="8907000" cy="26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" sz="2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DESIGN AND IMPLEMENTATION OF A DATABASE MANAGEMENT SYSTEM FOR EMPLOYEE ATTENDANCE, SHIFT AND LEAVE MANAGEMENT SYSTEM</a:t>
            </a:r>
            <a:endParaRPr b="1" i="0" sz="4000" u="none" cap="none" strike="noStrike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cxnSp>
        <p:nvCxnSpPr>
          <p:cNvPr id="15" name="Google Shape;15;p4"/>
          <p:cNvCxnSpPr/>
          <p:nvPr/>
        </p:nvCxnSpPr>
        <p:spPr>
          <a:xfrm flipH="1" rot="10800000">
            <a:off x="279150" y="3389825"/>
            <a:ext cx="2103300" cy="15300"/>
          </a:xfrm>
          <a:prstGeom prst="straightConnector1">
            <a:avLst/>
          </a:prstGeom>
          <a:noFill/>
          <a:ln cap="flat" cmpd="sng" w="25400">
            <a:solidFill>
              <a:srgbClr val="8BC5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4"/>
          <p:cNvSpPr txBox="1"/>
          <p:nvPr/>
        </p:nvSpPr>
        <p:spPr>
          <a:xfrm>
            <a:off x="233575" y="3654450"/>
            <a:ext cx="23862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700"/>
              <a:buFont typeface="Arial"/>
              <a:buNone/>
            </a:pPr>
            <a:r>
              <a:rPr b="1" lang="en" sz="1300">
                <a:solidFill>
                  <a:srgbClr val="8BC53D"/>
                </a:solidFill>
              </a:rPr>
              <a:t>Maydhaansh Nanda</a:t>
            </a:r>
            <a:br>
              <a:rPr b="1" lang="en" sz="1300">
                <a:solidFill>
                  <a:srgbClr val="8BC53D"/>
                </a:solidFill>
              </a:rPr>
            </a:br>
            <a:r>
              <a:rPr b="1" lang="en" sz="1200">
                <a:solidFill>
                  <a:srgbClr val="8BC53D"/>
                </a:solidFill>
              </a:rPr>
              <a:t>25WU0102155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 txBox="1"/>
          <p:nvPr/>
        </p:nvSpPr>
        <p:spPr>
          <a:xfrm>
            <a:off x="411480" y="3792474"/>
            <a:ext cx="14401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7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/>
        </p:nvSpPr>
        <p:spPr>
          <a:xfrm>
            <a:off x="377200" y="493776"/>
            <a:ext cx="72010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377200" y="1014984"/>
            <a:ext cx="79554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5A41"/>
              </a:buClr>
              <a:buSzPts val="1000"/>
              <a:buFont typeface="Arial"/>
              <a:buNone/>
            </a:pPr>
            <a:r>
              <a:rPr b="0" i="1" lang="en" sz="1000" u="none" cap="none" strike="noStrike">
                <a:solidFill>
                  <a:srgbClr val="3E5A41"/>
                </a:solidFill>
                <a:latin typeface="Arial"/>
                <a:ea typeface="Arial"/>
                <a:cs typeface="Arial"/>
                <a:sym typeface="Arial"/>
              </a:rPr>
              <a:t>The current employee management process can involve fragmented or manually maintained information for: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377200" y="1385316"/>
            <a:ext cx="1130228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/>
        </p:nvSpPr>
        <p:spPr>
          <a:xfrm>
            <a:off x="377200" y="1385316"/>
            <a:ext cx="11302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Employee Records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1658308" y="1385316"/>
            <a:ext cx="788691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/>
        </p:nvSpPr>
        <p:spPr>
          <a:xfrm>
            <a:off x="1658308" y="1385316"/>
            <a:ext cx="7886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2597880" y="1385316"/>
            <a:ext cx="1130228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/>
        </p:nvSpPr>
        <p:spPr>
          <a:xfrm>
            <a:off x="2597880" y="1385316"/>
            <a:ext cx="11302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Shift Allocation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3878988" y="1385316"/>
            <a:ext cx="1016383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/>
        </p:nvSpPr>
        <p:spPr>
          <a:xfrm>
            <a:off x="3878988" y="1385316"/>
            <a:ext cx="101638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Leave Requests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5046251" y="1385316"/>
            <a:ext cx="1073306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/>
        </p:nvSpPr>
        <p:spPr>
          <a:xfrm>
            <a:off x="5046251" y="1385316"/>
            <a:ext cx="107330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Leave Approvals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 txBox="1"/>
          <p:nvPr/>
        </p:nvSpPr>
        <p:spPr>
          <a:xfrm>
            <a:off x="480073" y="2146554"/>
            <a:ext cx="6858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/>
          <p:nvPr/>
        </p:nvSpPr>
        <p:spPr>
          <a:xfrm>
            <a:off x="1200182" y="2146554"/>
            <a:ext cx="326895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Fragmented Records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1200182" y="2489454"/>
            <a:ext cx="3268953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3E5A41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3E5A41"/>
                </a:solidFill>
                <a:latin typeface="Arial"/>
                <a:ea typeface="Arial"/>
                <a:cs typeface="Arial"/>
                <a:sym typeface="Arial"/>
              </a:rPr>
              <a:t>Employee-related information may exist across different records or systems.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4674881" y="2146554"/>
            <a:ext cx="6858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5394990" y="2146554"/>
            <a:ext cx="326895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Manual 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5394990" y="2489454"/>
            <a:ext cx="3268953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3E5A41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3E5A41"/>
                </a:solidFill>
                <a:latin typeface="Arial"/>
                <a:ea typeface="Arial"/>
                <a:cs typeface="Arial"/>
                <a:sym typeface="Arial"/>
              </a:rPr>
              <a:t>Manual attendance and leave tracking can introduce duplication and errors.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80073" y="3466719"/>
            <a:ext cx="6858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1200182" y="3466719"/>
            <a:ext cx="326895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Shift Coordination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200182" y="3809619"/>
            <a:ext cx="3268953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3E5A41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3E5A41"/>
                </a:solidFill>
                <a:latin typeface="Arial"/>
                <a:ea typeface="Arial"/>
                <a:cs typeface="Arial"/>
                <a:sym typeface="Arial"/>
              </a:rPr>
              <a:t>Managing employee schedules and shift assignments becomes difficult without centralized data.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/>
        </p:nvSpPr>
        <p:spPr>
          <a:xfrm>
            <a:off x="4674881" y="3466719"/>
            <a:ext cx="6858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5394990" y="3466719"/>
            <a:ext cx="326895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Data Retrieval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/>
          <p:nvPr/>
        </p:nvSpPr>
        <p:spPr>
          <a:xfrm>
            <a:off x="5394990" y="3809619"/>
            <a:ext cx="3268953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3E5A41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3E5A41"/>
                </a:solidFill>
                <a:latin typeface="Arial"/>
                <a:ea typeface="Arial"/>
                <a:cs typeface="Arial"/>
                <a:sym typeface="Arial"/>
              </a:rPr>
              <a:t>Finding historical attendance, shift and leave information can be inefficient.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5"/>
          <p:cNvCxnSpPr/>
          <p:nvPr/>
        </p:nvCxnSpPr>
        <p:spPr>
          <a:xfrm>
            <a:off x="377200" y="3274695"/>
            <a:ext cx="8389615" cy="685"/>
          </a:xfrm>
          <a:prstGeom prst="straightConnector1">
            <a:avLst/>
          </a:prstGeom>
          <a:noFill/>
          <a:ln cap="flat" cmpd="sng" w="12700">
            <a:solidFill>
              <a:srgbClr val="D8E4C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" name="Google Shape;48;p5"/>
          <p:cNvCxnSpPr/>
          <p:nvPr/>
        </p:nvCxnSpPr>
        <p:spPr>
          <a:xfrm>
            <a:off x="4572008" y="1954530"/>
            <a:ext cx="686" cy="2640330"/>
          </a:xfrm>
          <a:prstGeom prst="straightConnector1">
            <a:avLst/>
          </a:prstGeom>
          <a:noFill/>
          <a:ln cap="flat" cmpd="sng" w="12700">
            <a:solidFill>
              <a:srgbClr val="D8E4C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5"/>
          <p:cNvCxnSpPr/>
          <p:nvPr/>
        </p:nvCxnSpPr>
        <p:spPr>
          <a:xfrm>
            <a:off x="377200" y="1954530"/>
            <a:ext cx="8389615" cy="685"/>
          </a:xfrm>
          <a:prstGeom prst="straightConnector1">
            <a:avLst/>
          </a:prstGeom>
          <a:noFill/>
          <a:ln cap="flat" cmpd="sng" w="12700">
            <a:solidFill>
              <a:srgbClr val="D8E4C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/>
        </p:nvSpPr>
        <p:spPr>
          <a:xfrm>
            <a:off x="377200" y="493776"/>
            <a:ext cx="72010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Scope &amp; Objectives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6"/>
          <p:cNvCxnSpPr/>
          <p:nvPr/>
        </p:nvCxnSpPr>
        <p:spPr>
          <a:xfrm>
            <a:off x="4492110" y="1200150"/>
            <a:ext cx="686" cy="3566160"/>
          </a:xfrm>
          <a:prstGeom prst="straightConnector1">
            <a:avLst/>
          </a:prstGeom>
          <a:noFill/>
          <a:ln cap="flat" cmpd="sng" w="12700">
            <a:solidFill>
              <a:srgbClr val="D8E4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6"/>
          <p:cNvSpPr txBox="1"/>
          <p:nvPr/>
        </p:nvSpPr>
        <p:spPr>
          <a:xfrm>
            <a:off x="377200" y="1200150"/>
            <a:ext cx="3772001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6"/>
          <p:cNvCxnSpPr/>
          <p:nvPr/>
        </p:nvCxnSpPr>
        <p:spPr>
          <a:xfrm>
            <a:off x="377200" y="1488186"/>
            <a:ext cx="377200" cy="685"/>
          </a:xfrm>
          <a:prstGeom prst="straightConnector1">
            <a:avLst/>
          </a:prstGeom>
          <a:noFill/>
          <a:ln cap="flat" cmpd="sng" w="25400">
            <a:solidFill>
              <a:srgbClr val="8BC5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6"/>
          <p:cNvSpPr txBox="1"/>
          <p:nvPr/>
        </p:nvSpPr>
        <p:spPr>
          <a:xfrm>
            <a:off x="377200" y="1597914"/>
            <a:ext cx="3772001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5A41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3E5A41"/>
                </a:solidFill>
                <a:latin typeface="Arial"/>
                <a:ea typeface="Arial"/>
                <a:cs typeface="Arial"/>
                <a:sym typeface="Arial"/>
              </a:rPr>
              <a:t>The database covers: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 txBox="1"/>
          <p:nvPr/>
        </p:nvSpPr>
        <p:spPr>
          <a:xfrm>
            <a:off x="377200" y="1920240"/>
            <a:ext cx="20574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617236" y="1920240"/>
            <a:ext cx="35662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Employee information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377200" y="2297430"/>
            <a:ext cx="20574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617236" y="2297430"/>
            <a:ext cx="35662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Attendance 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377200" y="2674620"/>
            <a:ext cx="20574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617236" y="2674620"/>
            <a:ext cx="35662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Shift assignment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377200" y="3051810"/>
            <a:ext cx="20574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617236" y="3051810"/>
            <a:ext cx="35662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Leave requests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377200" y="3429000"/>
            <a:ext cx="20574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617236" y="3429000"/>
            <a:ext cx="35662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Leave approval / 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377200" y="3806190"/>
            <a:ext cx="20574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617236" y="3806190"/>
            <a:ext cx="35662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Administrative 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4869310" y="1200150"/>
            <a:ext cx="39777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6"/>
          <p:cNvCxnSpPr/>
          <p:nvPr/>
        </p:nvCxnSpPr>
        <p:spPr>
          <a:xfrm>
            <a:off x="4869310" y="1488186"/>
            <a:ext cx="377200" cy="685"/>
          </a:xfrm>
          <a:prstGeom prst="straightConnector1">
            <a:avLst/>
          </a:prstGeom>
          <a:noFill/>
          <a:ln cap="flat" cmpd="sng" w="25400">
            <a:solidFill>
              <a:srgbClr val="8BC5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6"/>
          <p:cNvSpPr txBox="1"/>
          <p:nvPr/>
        </p:nvSpPr>
        <p:spPr>
          <a:xfrm>
            <a:off x="4869310" y="1714500"/>
            <a:ext cx="480073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5383674" y="1714500"/>
            <a:ext cx="342909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Centralize employee-related information.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6"/>
          <p:cNvCxnSpPr/>
          <p:nvPr/>
        </p:nvCxnSpPr>
        <p:spPr>
          <a:xfrm>
            <a:off x="4869310" y="2215134"/>
            <a:ext cx="3943455" cy="685"/>
          </a:xfrm>
          <a:prstGeom prst="straightConnector1">
            <a:avLst/>
          </a:prstGeom>
          <a:noFill/>
          <a:ln cap="flat" cmpd="sng" w="12700">
            <a:solidFill>
              <a:srgbClr val="EAF1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6"/>
          <p:cNvSpPr txBox="1"/>
          <p:nvPr/>
        </p:nvSpPr>
        <p:spPr>
          <a:xfrm>
            <a:off x="4869310" y="2283714"/>
            <a:ext cx="480073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5383674" y="2283714"/>
            <a:ext cx="342909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Maintain accurate attendance records.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6"/>
          <p:cNvCxnSpPr/>
          <p:nvPr/>
        </p:nvCxnSpPr>
        <p:spPr>
          <a:xfrm>
            <a:off x="4869310" y="2784348"/>
            <a:ext cx="3943455" cy="685"/>
          </a:xfrm>
          <a:prstGeom prst="straightConnector1">
            <a:avLst/>
          </a:prstGeom>
          <a:noFill/>
          <a:ln cap="flat" cmpd="sng" w="12700">
            <a:solidFill>
              <a:srgbClr val="EAF1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6"/>
          <p:cNvSpPr txBox="1"/>
          <p:nvPr/>
        </p:nvSpPr>
        <p:spPr>
          <a:xfrm>
            <a:off x="4869310" y="2852928"/>
            <a:ext cx="480073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5383674" y="2852928"/>
            <a:ext cx="342909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Simplify shift assignment and tracking.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6"/>
          <p:cNvCxnSpPr/>
          <p:nvPr/>
        </p:nvCxnSpPr>
        <p:spPr>
          <a:xfrm>
            <a:off x="4869310" y="3353562"/>
            <a:ext cx="3943455" cy="686"/>
          </a:xfrm>
          <a:prstGeom prst="straightConnector1">
            <a:avLst/>
          </a:prstGeom>
          <a:noFill/>
          <a:ln cap="flat" cmpd="sng" w="12700">
            <a:solidFill>
              <a:srgbClr val="EAF1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6"/>
          <p:cNvSpPr txBox="1"/>
          <p:nvPr/>
        </p:nvSpPr>
        <p:spPr>
          <a:xfrm>
            <a:off x="4869310" y="3422142"/>
            <a:ext cx="480073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5383674" y="3422142"/>
            <a:ext cx="342909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Organize leave requests and approvals.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6"/>
          <p:cNvCxnSpPr/>
          <p:nvPr/>
        </p:nvCxnSpPr>
        <p:spPr>
          <a:xfrm>
            <a:off x="4869310" y="3922776"/>
            <a:ext cx="3943455" cy="686"/>
          </a:xfrm>
          <a:prstGeom prst="straightConnector1">
            <a:avLst/>
          </a:prstGeom>
          <a:noFill/>
          <a:ln cap="flat" cmpd="sng" w="12700">
            <a:solidFill>
              <a:srgbClr val="EAF1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6"/>
          <p:cNvSpPr txBox="1"/>
          <p:nvPr/>
        </p:nvSpPr>
        <p:spPr>
          <a:xfrm>
            <a:off x="4869310" y="3991356"/>
            <a:ext cx="480073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5383674" y="3991356"/>
            <a:ext cx="342909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Enable efficient retrieval of employee information.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377200" y="4855464"/>
            <a:ext cx="54865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EMPLOYEE ATTENDANCE, SHIFT &amp; LEAVE MANAGEMENT SYSTEM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/>
        </p:nvSpPr>
        <p:spPr>
          <a:xfrm>
            <a:off x="411480" y="466344"/>
            <a:ext cx="832081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Our Solution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411480" y="1062990"/>
            <a:ext cx="8320811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A centralized relational database that unifies employee information, attendance records, shift assignments, leave requests and approvals, and administrative records into a single structured system.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3543186" y="1748790"/>
            <a:ext cx="2057400" cy="514350"/>
          </a:xfrm>
          <a:prstGeom prst="roundRect">
            <a:avLst>
              <a:gd fmla="val 12000" name="adj"/>
            </a:avLst>
          </a:prstGeom>
          <a:solidFill>
            <a:srgbClr val="012F13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 txBox="1"/>
          <p:nvPr/>
        </p:nvSpPr>
        <p:spPr>
          <a:xfrm>
            <a:off x="3543186" y="1748790"/>
            <a:ext cx="2057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EMPLOYEES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7"/>
          <p:cNvCxnSpPr/>
          <p:nvPr/>
        </p:nvCxnSpPr>
        <p:spPr>
          <a:xfrm>
            <a:off x="4571886" y="2263140"/>
            <a:ext cx="686" cy="377190"/>
          </a:xfrm>
          <a:prstGeom prst="straightConnector1">
            <a:avLst/>
          </a:prstGeom>
          <a:noFill/>
          <a:ln cap="flat" cmpd="sng" w="22225">
            <a:solidFill>
              <a:srgbClr val="8BC5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" name="Google Shape;99;p7"/>
          <p:cNvSpPr/>
          <p:nvPr/>
        </p:nvSpPr>
        <p:spPr>
          <a:xfrm>
            <a:off x="3268866" y="2640330"/>
            <a:ext cx="2606040" cy="617220"/>
          </a:xfrm>
          <a:prstGeom prst="roundRect">
            <a:avLst>
              <a:gd fmla="val 11111" name="adj"/>
            </a:avLst>
          </a:prstGeom>
          <a:solidFill>
            <a:srgbClr val="8BC53D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 txBox="1"/>
          <p:nvPr/>
        </p:nvSpPr>
        <p:spPr>
          <a:xfrm>
            <a:off x="3268866" y="2640330"/>
            <a:ext cx="26060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CENTRAL 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7"/>
          <p:cNvCxnSpPr/>
          <p:nvPr/>
        </p:nvCxnSpPr>
        <p:spPr>
          <a:xfrm flipH="1">
            <a:off x="2343036" y="3257550"/>
            <a:ext cx="2228850" cy="548640"/>
          </a:xfrm>
          <a:prstGeom prst="straightConnector1">
            <a:avLst/>
          </a:prstGeom>
          <a:noFill/>
          <a:ln cap="flat" cmpd="sng" w="19050">
            <a:solidFill>
              <a:srgbClr val="8BC5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" name="Google Shape;102;p7"/>
          <p:cNvSpPr/>
          <p:nvPr/>
        </p:nvSpPr>
        <p:spPr>
          <a:xfrm>
            <a:off x="1417206" y="3806190"/>
            <a:ext cx="1851660" cy="582930"/>
          </a:xfrm>
          <a:prstGeom prst="roundRect">
            <a:avLst>
              <a:gd fmla="val 10588" name="adj"/>
            </a:avLst>
          </a:prstGeom>
          <a:solidFill>
            <a:srgbClr val="E2F0CC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1417206" y="3806190"/>
            <a:ext cx="18516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7"/>
          <p:cNvCxnSpPr/>
          <p:nvPr/>
        </p:nvCxnSpPr>
        <p:spPr>
          <a:xfrm>
            <a:off x="4571886" y="3257550"/>
            <a:ext cx="0" cy="548640"/>
          </a:xfrm>
          <a:prstGeom prst="straightConnector1">
            <a:avLst/>
          </a:prstGeom>
          <a:noFill/>
          <a:ln cap="flat" cmpd="sng" w="19050">
            <a:solidFill>
              <a:srgbClr val="8BC5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" name="Google Shape;105;p7"/>
          <p:cNvSpPr/>
          <p:nvPr/>
        </p:nvSpPr>
        <p:spPr>
          <a:xfrm>
            <a:off x="3646056" y="3806190"/>
            <a:ext cx="1851660" cy="582930"/>
          </a:xfrm>
          <a:prstGeom prst="roundRect">
            <a:avLst>
              <a:gd fmla="val 10588" name="adj"/>
            </a:avLst>
          </a:prstGeom>
          <a:solidFill>
            <a:srgbClr val="E2F0CC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 txBox="1"/>
          <p:nvPr/>
        </p:nvSpPr>
        <p:spPr>
          <a:xfrm>
            <a:off x="3646056" y="3806190"/>
            <a:ext cx="18516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SHIFTS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>
            <a:off x="4571886" y="3257550"/>
            <a:ext cx="2228850" cy="548640"/>
          </a:xfrm>
          <a:prstGeom prst="straightConnector1">
            <a:avLst/>
          </a:prstGeom>
          <a:noFill/>
          <a:ln cap="flat" cmpd="sng" w="19050">
            <a:solidFill>
              <a:srgbClr val="8BC5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" name="Google Shape;108;p7"/>
          <p:cNvSpPr/>
          <p:nvPr/>
        </p:nvSpPr>
        <p:spPr>
          <a:xfrm>
            <a:off x="5874906" y="3806190"/>
            <a:ext cx="1851660" cy="582930"/>
          </a:xfrm>
          <a:prstGeom prst="roundRect">
            <a:avLst>
              <a:gd fmla="val 10588" name="adj"/>
            </a:avLst>
          </a:prstGeom>
          <a:solidFill>
            <a:srgbClr val="E2F0CC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 txBox="1"/>
          <p:nvPr/>
        </p:nvSpPr>
        <p:spPr>
          <a:xfrm>
            <a:off x="5874906" y="3806190"/>
            <a:ext cx="18516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LEAVE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/>
        </p:nvSpPr>
        <p:spPr>
          <a:xfrm>
            <a:off x="411480" y="466344"/>
            <a:ext cx="832081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System Users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411480" y="1200150"/>
            <a:ext cx="2640330" cy="3360420"/>
          </a:xfrm>
          <a:prstGeom prst="roundRect">
            <a:avLst>
              <a:gd fmla="val 3117" name="adj"/>
            </a:avLst>
          </a:prstGeom>
          <a:solidFill>
            <a:srgbClr val="E2F0CC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411480" y="1200150"/>
            <a:ext cx="2640330" cy="582930"/>
          </a:xfrm>
          <a:prstGeom prst="roundRect">
            <a:avLst>
              <a:gd fmla="val 14118" name="adj"/>
            </a:avLst>
          </a:prstGeom>
          <a:solidFill>
            <a:srgbClr val="012F13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411480" y="1508760"/>
            <a:ext cx="2640330" cy="274320"/>
          </a:xfrm>
          <a:prstGeom prst="rect">
            <a:avLst/>
          </a:prstGeom>
          <a:solidFill>
            <a:srgbClr val="012F1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 txBox="1"/>
          <p:nvPr/>
        </p:nvSpPr>
        <p:spPr>
          <a:xfrm>
            <a:off x="617220" y="1200150"/>
            <a:ext cx="22288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Administrator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630936" y="2064258"/>
            <a:ext cx="54864" cy="54864"/>
          </a:xfrm>
          <a:prstGeom prst="ellipse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 txBox="1"/>
          <p:nvPr/>
        </p:nvSpPr>
        <p:spPr>
          <a:xfrm>
            <a:off x="788670" y="1988820"/>
            <a:ext cx="205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Manage employee records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630936" y="2544318"/>
            <a:ext cx="54864" cy="54864"/>
          </a:xfrm>
          <a:prstGeom prst="ellipse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 txBox="1"/>
          <p:nvPr/>
        </p:nvSpPr>
        <p:spPr>
          <a:xfrm>
            <a:off x="788670" y="2468880"/>
            <a:ext cx="205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Manage shifts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30936" y="3024378"/>
            <a:ext cx="54864" cy="54864"/>
          </a:xfrm>
          <a:prstGeom prst="ellipse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 txBox="1"/>
          <p:nvPr/>
        </p:nvSpPr>
        <p:spPr>
          <a:xfrm>
            <a:off x="788670" y="2948940"/>
            <a:ext cx="205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Monitor attendance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30936" y="3504438"/>
            <a:ext cx="54864" cy="54864"/>
          </a:xfrm>
          <a:prstGeom prst="ellipse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 txBox="1"/>
          <p:nvPr/>
        </p:nvSpPr>
        <p:spPr>
          <a:xfrm>
            <a:off x="788670" y="3429000"/>
            <a:ext cx="205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Manage leave records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3257550" y="1200150"/>
            <a:ext cx="2640330" cy="3360420"/>
          </a:xfrm>
          <a:prstGeom prst="roundRect">
            <a:avLst>
              <a:gd fmla="val 3117" name="adj"/>
            </a:avLst>
          </a:prstGeom>
          <a:solidFill>
            <a:srgbClr val="E2F0CC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3257550" y="1200150"/>
            <a:ext cx="2640330" cy="582930"/>
          </a:xfrm>
          <a:prstGeom prst="roundRect">
            <a:avLst>
              <a:gd fmla="val 14118" name="adj"/>
            </a:avLst>
          </a:prstGeom>
          <a:solidFill>
            <a:srgbClr val="012F13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3257550" y="1508760"/>
            <a:ext cx="2640330" cy="274320"/>
          </a:xfrm>
          <a:prstGeom prst="rect">
            <a:avLst/>
          </a:prstGeom>
          <a:solidFill>
            <a:srgbClr val="012F1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 txBox="1"/>
          <p:nvPr/>
        </p:nvSpPr>
        <p:spPr>
          <a:xfrm>
            <a:off x="3463290" y="1200150"/>
            <a:ext cx="22288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477006" y="2064258"/>
            <a:ext cx="54864" cy="54864"/>
          </a:xfrm>
          <a:prstGeom prst="ellipse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3634740" y="1988820"/>
            <a:ext cx="205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View attendance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3477006" y="2544318"/>
            <a:ext cx="54864" cy="54864"/>
          </a:xfrm>
          <a:prstGeom prst="ellipse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3634740" y="2468880"/>
            <a:ext cx="205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View assigned shift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3477006" y="3024378"/>
            <a:ext cx="54864" cy="54864"/>
          </a:xfrm>
          <a:prstGeom prst="ellipse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 txBox="1"/>
          <p:nvPr/>
        </p:nvSpPr>
        <p:spPr>
          <a:xfrm>
            <a:off x="3634740" y="2948940"/>
            <a:ext cx="205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Apply for leave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477006" y="3504438"/>
            <a:ext cx="54864" cy="54864"/>
          </a:xfrm>
          <a:prstGeom prst="ellipse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3634740" y="3429000"/>
            <a:ext cx="205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Track leave status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103620" y="1200150"/>
            <a:ext cx="2640330" cy="3360420"/>
          </a:xfrm>
          <a:prstGeom prst="roundRect">
            <a:avLst>
              <a:gd fmla="val 3117" name="adj"/>
            </a:avLst>
          </a:prstGeom>
          <a:solidFill>
            <a:srgbClr val="E2F0CC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6103620" y="1200150"/>
            <a:ext cx="2640330" cy="582930"/>
          </a:xfrm>
          <a:prstGeom prst="roundRect">
            <a:avLst>
              <a:gd fmla="val 14118" name="adj"/>
            </a:avLst>
          </a:prstGeom>
          <a:solidFill>
            <a:srgbClr val="012F13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6103620" y="1508760"/>
            <a:ext cx="2640330" cy="274320"/>
          </a:xfrm>
          <a:prstGeom prst="rect">
            <a:avLst/>
          </a:prstGeom>
          <a:solidFill>
            <a:srgbClr val="012F1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6309360" y="1200150"/>
            <a:ext cx="22288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Manager / HR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323076" y="2064258"/>
            <a:ext cx="54864" cy="54864"/>
          </a:xfrm>
          <a:prstGeom prst="ellipse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6480810" y="1988820"/>
            <a:ext cx="205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Review attendance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6323076" y="2544318"/>
            <a:ext cx="54864" cy="54864"/>
          </a:xfrm>
          <a:prstGeom prst="ellipse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6480810" y="2468880"/>
            <a:ext cx="205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Approve / reject leave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323076" y="3024378"/>
            <a:ext cx="54864" cy="54864"/>
          </a:xfrm>
          <a:prstGeom prst="ellipse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6480810" y="2948940"/>
            <a:ext cx="205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Monitor employee schedules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323076" y="3504438"/>
            <a:ext cx="54864" cy="54864"/>
          </a:xfrm>
          <a:prstGeom prst="ellipse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6480810" y="3429000"/>
            <a:ext cx="205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Access relevant reports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/>
        </p:nvSpPr>
        <p:spPr>
          <a:xfrm>
            <a:off x="377200" y="493776"/>
            <a:ext cx="72010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Functional Requirements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14364" y="1508760"/>
            <a:ext cx="109731" cy="109728"/>
          </a:xfrm>
          <a:prstGeom prst="rect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733826" y="1453896"/>
            <a:ext cx="370101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Employee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514364" y="1851660"/>
            <a:ext cx="20574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40684" y="1851660"/>
            <a:ext cx="3694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Add employee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514364" y="2160270"/>
            <a:ext cx="20574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740684" y="2160270"/>
            <a:ext cx="3694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Update employee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514364" y="2468880"/>
            <a:ext cx="20574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740684" y="2468880"/>
            <a:ext cx="3694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View employee records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709172" y="1508760"/>
            <a:ext cx="109731" cy="109728"/>
          </a:xfrm>
          <a:prstGeom prst="rect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4928633" y="1453896"/>
            <a:ext cx="370101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Attendance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4709172" y="1851660"/>
            <a:ext cx="20574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4935492" y="1851660"/>
            <a:ext cx="3694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Record attendance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4709172" y="2160270"/>
            <a:ext cx="20574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4935492" y="2160270"/>
            <a:ext cx="3694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Track attendance status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4709172" y="2468880"/>
            <a:ext cx="20574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4935492" y="2468880"/>
            <a:ext cx="3694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View attendance history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14364" y="3188970"/>
            <a:ext cx="109731" cy="109728"/>
          </a:xfrm>
          <a:prstGeom prst="rect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 txBox="1"/>
          <p:nvPr/>
        </p:nvSpPr>
        <p:spPr>
          <a:xfrm>
            <a:off x="733826" y="3134106"/>
            <a:ext cx="370101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Shift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514364" y="3531870"/>
            <a:ext cx="20574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740684" y="3531870"/>
            <a:ext cx="3694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Create / manage shifts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514364" y="3840480"/>
            <a:ext cx="20574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740684" y="3840480"/>
            <a:ext cx="3694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Assign employees to shifts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514364" y="4149090"/>
            <a:ext cx="20574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740684" y="4149090"/>
            <a:ext cx="3694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Track schedules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709172" y="3188970"/>
            <a:ext cx="109731" cy="109728"/>
          </a:xfrm>
          <a:prstGeom prst="rect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4928633" y="3134106"/>
            <a:ext cx="370101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Leave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4709172" y="3531870"/>
            <a:ext cx="20574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4935492" y="3531870"/>
            <a:ext cx="3694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Submit leave requests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4709172" y="3840480"/>
            <a:ext cx="20574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4935492" y="3840480"/>
            <a:ext cx="3694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Approve / reject leave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4709172" y="4149090"/>
            <a:ext cx="20574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4935492" y="4149090"/>
            <a:ext cx="3694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Track leave status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9"/>
          <p:cNvCxnSpPr/>
          <p:nvPr/>
        </p:nvCxnSpPr>
        <p:spPr>
          <a:xfrm>
            <a:off x="377200" y="2948940"/>
            <a:ext cx="8389615" cy="685"/>
          </a:xfrm>
          <a:prstGeom prst="straightConnector1">
            <a:avLst/>
          </a:prstGeom>
          <a:noFill/>
          <a:ln cap="flat" cmpd="sng" w="12700">
            <a:solidFill>
              <a:srgbClr val="D8E4C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9"/>
          <p:cNvCxnSpPr/>
          <p:nvPr/>
        </p:nvCxnSpPr>
        <p:spPr>
          <a:xfrm>
            <a:off x="4572008" y="1268730"/>
            <a:ext cx="686" cy="3360420"/>
          </a:xfrm>
          <a:prstGeom prst="straightConnector1">
            <a:avLst/>
          </a:prstGeom>
          <a:noFill/>
          <a:ln cap="flat" cmpd="sng" w="12700">
            <a:solidFill>
              <a:srgbClr val="D8E4C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9"/>
          <p:cNvCxnSpPr/>
          <p:nvPr/>
        </p:nvCxnSpPr>
        <p:spPr>
          <a:xfrm>
            <a:off x="377200" y="1268730"/>
            <a:ext cx="8389615" cy="685"/>
          </a:xfrm>
          <a:prstGeom prst="straightConnector1">
            <a:avLst/>
          </a:prstGeom>
          <a:noFill/>
          <a:ln cap="flat" cmpd="sng" w="12700">
            <a:solidFill>
              <a:srgbClr val="D8E4C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/>
        </p:nvSpPr>
        <p:spPr>
          <a:xfrm>
            <a:off x="126530" y="185736"/>
            <a:ext cx="832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600"/>
              <a:buFont typeface="Arial"/>
              <a:buNone/>
            </a:pPr>
            <a:r>
              <a:rPr b="1" i="0" lang="en" sz="21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Entity Relationship Diagram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0" title="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8125"/>
            <a:ext cx="8792699" cy="417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/>
        </p:nvSpPr>
        <p:spPr>
          <a:xfrm>
            <a:off x="411480" y="466344"/>
            <a:ext cx="832081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2100"/>
              <a:buFont typeface="Arial"/>
              <a:buNone/>
            </a:pPr>
            <a:r>
              <a:rPr b="1" lang="en" sz="2100">
                <a:solidFill>
                  <a:srgbClr val="012F13"/>
                </a:solidFill>
              </a:rPr>
              <a:t>Relationship Notes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411480" y="1028700"/>
            <a:ext cx="83208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These relationships enforce referential integrity and mirror the real-world structure of the organization.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411480" y="1474470"/>
            <a:ext cx="8320811" cy="459486"/>
          </a:xfrm>
          <a:prstGeom prst="roundRect">
            <a:avLst>
              <a:gd fmla="val 13433" name="adj"/>
            </a:avLst>
          </a:prstGeom>
          <a:solidFill>
            <a:srgbClr val="E2F0CC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 txBox="1"/>
          <p:nvPr/>
        </p:nvSpPr>
        <p:spPr>
          <a:xfrm>
            <a:off x="651510" y="1474470"/>
            <a:ext cx="2468880" cy="45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3154680" y="1474470"/>
            <a:ext cx="411480" cy="45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3634740" y="1474470"/>
            <a:ext cx="2880360" cy="45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7326401" y="1567053"/>
            <a:ext cx="1200150" cy="274320"/>
          </a:xfrm>
          <a:prstGeom prst="roundRect">
            <a:avLst>
              <a:gd fmla="val 15000" name="adj"/>
            </a:avLst>
          </a:prstGeom>
          <a:solidFill>
            <a:srgbClr val="012F1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7326401" y="1567053"/>
            <a:ext cx="12001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1 : 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11480" y="2057400"/>
            <a:ext cx="8320811" cy="459486"/>
          </a:xfrm>
          <a:prstGeom prst="roundRect">
            <a:avLst>
              <a:gd fmla="val 13433" name="adj"/>
            </a:avLst>
          </a:prstGeom>
          <a:solidFill>
            <a:srgbClr val="E2F0CC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 txBox="1"/>
          <p:nvPr/>
        </p:nvSpPr>
        <p:spPr>
          <a:xfrm>
            <a:off x="651510" y="2057400"/>
            <a:ext cx="2468880" cy="45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 txBox="1"/>
          <p:nvPr/>
        </p:nvSpPr>
        <p:spPr>
          <a:xfrm>
            <a:off x="3154680" y="2057400"/>
            <a:ext cx="411480" cy="45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3634740" y="2057400"/>
            <a:ext cx="2880360" cy="45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LEAVE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7326401" y="2149983"/>
            <a:ext cx="1200150" cy="274320"/>
          </a:xfrm>
          <a:prstGeom prst="roundRect">
            <a:avLst>
              <a:gd fmla="val 15000" name="adj"/>
            </a:avLst>
          </a:prstGeom>
          <a:solidFill>
            <a:srgbClr val="012F1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 txBox="1"/>
          <p:nvPr/>
        </p:nvSpPr>
        <p:spPr>
          <a:xfrm>
            <a:off x="7326401" y="2149983"/>
            <a:ext cx="12001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1 : 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11480" y="2640330"/>
            <a:ext cx="8320811" cy="459486"/>
          </a:xfrm>
          <a:prstGeom prst="roundRect">
            <a:avLst>
              <a:gd fmla="val 13433" name="adj"/>
            </a:avLst>
          </a:prstGeom>
          <a:solidFill>
            <a:srgbClr val="E2F0CC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651510" y="2640330"/>
            <a:ext cx="2468880" cy="45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3154680" y="2640330"/>
            <a:ext cx="411480" cy="45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3634740" y="2640330"/>
            <a:ext cx="2880360" cy="45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EMPLOYEE_SHIFT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7326401" y="2732913"/>
            <a:ext cx="1200150" cy="274320"/>
          </a:xfrm>
          <a:prstGeom prst="roundRect">
            <a:avLst>
              <a:gd fmla="val 15000" name="adj"/>
            </a:avLst>
          </a:prstGeom>
          <a:solidFill>
            <a:srgbClr val="012F1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7326401" y="2732913"/>
            <a:ext cx="12001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1 : 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411480" y="3223260"/>
            <a:ext cx="8320811" cy="459486"/>
          </a:xfrm>
          <a:prstGeom prst="roundRect">
            <a:avLst>
              <a:gd fmla="val 13433" name="adj"/>
            </a:avLst>
          </a:prstGeom>
          <a:solidFill>
            <a:srgbClr val="E2F0CC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 txBox="1"/>
          <p:nvPr/>
        </p:nvSpPr>
        <p:spPr>
          <a:xfrm>
            <a:off x="651510" y="3223260"/>
            <a:ext cx="2468880" cy="45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3154680" y="3223260"/>
            <a:ext cx="411480" cy="45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3634740" y="3223260"/>
            <a:ext cx="2880360" cy="45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EMPLOYEE_SHIFT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7326401" y="3315843"/>
            <a:ext cx="1200150" cy="274320"/>
          </a:xfrm>
          <a:prstGeom prst="roundRect">
            <a:avLst>
              <a:gd fmla="val 15000" name="adj"/>
            </a:avLst>
          </a:prstGeom>
          <a:solidFill>
            <a:srgbClr val="012F1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 txBox="1"/>
          <p:nvPr/>
        </p:nvSpPr>
        <p:spPr>
          <a:xfrm>
            <a:off x="7326401" y="3315843"/>
            <a:ext cx="12001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1 : 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11480" y="3806190"/>
            <a:ext cx="8320811" cy="459486"/>
          </a:xfrm>
          <a:prstGeom prst="roundRect">
            <a:avLst>
              <a:gd fmla="val 13433" name="adj"/>
            </a:avLst>
          </a:prstGeom>
          <a:solidFill>
            <a:srgbClr val="E2F0CC"/>
          </a:solidFill>
          <a:ln cap="flat" cmpd="sng" w="9525">
            <a:solidFill>
              <a:srgbClr val="012F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 txBox="1"/>
          <p:nvPr/>
        </p:nvSpPr>
        <p:spPr>
          <a:xfrm>
            <a:off x="651510" y="3806190"/>
            <a:ext cx="2468880" cy="45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3154680" y="3806190"/>
            <a:ext cx="411480" cy="45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3634740" y="3806190"/>
            <a:ext cx="2880360" cy="45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2F1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12F13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7326401" y="3898773"/>
            <a:ext cx="1200150" cy="274320"/>
          </a:xfrm>
          <a:prstGeom prst="roundRect">
            <a:avLst>
              <a:gd fmla="val 15000" name="adj"/>
            </a:avLst>
          </a:prstGeom>
          <a:solidFill>
            <a:srgbClr val="012F1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 txBox="1"/>
          <p:nvPr/>
        </p:nvSpPr>
        <p:spPr>
          <a:xfrm>
            <a:off x="7326401" y="3898773"/>
            <a:ext cx="12001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C53D"/>
                </a:solidFill>
                <a:latin typeface="Arial"/>
                <a:ea typeface="Arial"/>
                <a:cs typeface="Arial"/>
                <a:sym typeface="Arial"/>
              </a:rPr>
              <a:t>1 : 0..1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1E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 txBox="1"/>
          <p:nvPr/>
        </p:nvSpPr>
        <p:spPr>
          <a:xfrm>
            <a:off x="0" y="31975"/>
            <a:ext cx="32070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Relational Schema</a:t>
            </a:r>
            <a:endParaRPr b="1"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12" title="Screenshot 2026-09-04 at 1.13.0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25" y="714625"/>
            <a:ext cx="4074174" cy="203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2" title="Screenshot 2026-09-04 at 1.13.0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7700" y="3142000"/>
            <a:ext cx="4464815" cy="182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E4C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 txBox="1"/>
          <p:nvPr/>
        </p:nvSpPr>
        <p:spPr>
          <a:xfrm>
            <a:off x="0" y="0"/>
            <a:ext cx="3599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Relational Schema</a:t>
            </a:r>
            <a:endParaRPr b="1"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13" title="Screenshot 2026-09-04 at 1.13.1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50" y="734575"/>
            <a:ext cx="4115275" cy="207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3" title="Screenshot 2026-09-04 at 1.13.2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9777" y="3168600"/>
            <a:ext cx="4238401" cy="186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E4C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 txBox="1"/>
          <p:nvPr/>
        </p:nvSpPr>
        <p:spPr>
          <a:xfrm>
            <a:off x="0" y="0"/>
            <a:ext cx="3803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Relational Schema</a:t>
            </a:r>
            <a:endParaRPr b="1"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14" title="Screenshot 2026-09-04 at 1.13.3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00" y="683450"/>
            <a:ext cx="4479776" cy="201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4" title="Screenshot 2026-09-04 at 1.13.4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6475" y="2918250"/>
            <a:ext cx="4479775" cy="21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207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"/>
          <p:cNvSpPr txBox="1"/>
          <p:nvPr/>
        </p:nvSpPr>
        <p:spPr>
          <a:xfrm>
            <a:off x="411480" y="466344"/>
            <a:ext cx="832081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411480" y="1378458"/>
            <a:ext cx="82296" cy="82296"/>
          </a:xfrm>
          <a:prstGeom prst="ellipse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"/>
          <p:cNvSpPr txBox="1"/>
          <p:nvPr/>
        </p:nvSpPr>
        <p:spPr>
          <a:xfrm>
            <a:off x="651510" y="1255014"/>
            <a:ext cx="808078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F0CC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2F0CC"/>
                </a:solidFill>
                <a:latin typeface="Arial"/>
                <a:ea typeface="Arial"/>
                <a:cs typeface="Arial"/>
                <a:sym typeface="Arial"/>
              </a:rPr>
              <a:t>A centralized relational database can unify employee attendance, shift and leave management.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411480" y="1961388"/>
            <a:ext cx="82296" cy="82296"/>
          </a:xfrm>
          <a:prstGeom prst="ellipse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"/>
          <p:cNvSpPr txBox="1"/>
          <p:nvPr/>
        </p:nvSpPr>
        <p:spPr>
          <a:xfrm>
            <a:off x="651510" y="1837944"/>
            <a:ext cx="808078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F0CC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2F0CC"/>
                </a:solidFill>
                <a:latin typeface="Arial"/>
                <a:ea typeface="Arial"/>
                <a:cs typeface="Arial"/>
                <a:sym typeface="Arial"/>
              </a:rPr>
              <a:t>The proposed ER model provides a structured foundation for implementation.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411480" y="2544318"/>
            <a:ext cx="82296" cy="82296"/>
          </a:xfrm>
          <a:prstGeom prst="ellipse">
            <a:avLst/>
          </a:prstGeom>
          <a:solidFill>
            <a:srgbClr val="8BC5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"/>
          <p:cNvSpPr txBox="1"/>
          <p:nvPr/>
        </p:nvSpPr>
        <p:spPr>
          <a:xfrm>
            <a:off x="651510" y="2420874"/>
            <a:ext cx="808078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F0CC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2F0CC"/>
                </a:solidFill>
                <a:latin typeface="Arial"/>
                <a:ea typeface="Arial"/>
                <a:cs typeface="Arial"/>
                <a:sym typeface="Arial"/>
              </a:rPr>
              <a:t>The system can be extended into a complete enterprise workforce management solution.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15"/>
          <p:cNvCxnSpPr/>
          <p:nvPr/>
        </p:nvCxnSpPr>
        <p:spPr>
          <a:xfrm>
            <a:off x="411480" y="3429000"/>
            <a:ext cx="6342000" cy="23400"/>
          </a:xfrm>
          <a:prstGeom prst="straightConnector1">
            <a:avLst/>
          </a:prstGeom>
          <a:noFill/>
          <a:ln cap="flat" cmpd="sng" w="25400">
            <a:solidFill>
              <a:srgbClr val="8BC5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5"/>
          <p:cNvSpPr txBox="1"/>
          <p:nvPr/>
        </p:nvSpPr>
        <p:spPr>
          <a:xfrm>
            <a:off x="411480" y="3703320"/>
            <a:ext cx="54864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411480" y="4251960"/>
            <a:ext cx="548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8252231" y="4800600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A84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FA84A"/>
                </a:solidFill>
                <a:latin typeface="Arial"/>
                <a:ea typeface="Arial"/>
                <a:cs typeface="Arial"/>
                <a:sym typeface="Arial"/>
              </a:rPr>
              <a:t>12 / 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207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"/>
          <p:cNvSpPr txBox="1"/>
          <p:nvPr/>
        </p:nvSpPr>
        <p:spPr>
          <a:xfrm>
            <a:off x="-1451537" y="1995220"/>
            <a:ext cx="9144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C53D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 txBox="1"/>
          <p:nvPr/>
        </p:nvSpPr>
        <p:spPr>
          <a:xfrm>
            <a:off x="0" y="2228850"/>
            <a:ext cx="91440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F0CC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E2F0CC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 txBox="1"/>
          <p:nvPr/>
        </p:nvSpPr>
        <p:spPr>
          <a:xfrm>
            <a:off x="377200" y="4855464"/>
            <a:ext cx="54865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5A41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 txBox="1"/>
          <p:nvPr/>
        </p:nvSpPr>
        <p:spPr>
          <a:xfrm>
            <a:off x="7395178" y="4855464"/>
            <a:ext cx="13716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E5A41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3E5A41"/>
                </a:solidFill>
                <a:latin typeface="Arial"/>
                <a:ea typeface="Arial"/>
                <a:cs typeface="Arial"/>
                <a:sym typeface="Arial"/>
              </a:rPr>
              <a:t>07 / 07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